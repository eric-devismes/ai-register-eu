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987552"/>
            <a:ext cx="219456" cy="2194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213" y="1239012"/>
            <a:ext cx="219456" cy="21945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132" y="1423093"/>
            <a:ext cx="219456" cy="21945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490472"/>
            <a:ext cx="219456" cy="219456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1423093"/>
            <a:ext cx="219456" cy="219456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131" y="1239012"/>
            <a:ext cx="219456" cy="219456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752" y="987552"/>
            <a:ext cx="219456" cy="219456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7131" y="736092"/>
            <a:ext cx="219456" cy="219456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1212" y="552011"/>
            <a:ext cx="219456" cy="219456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672" y="484632"/>
            <a:ext cx="219456" cy="219456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4132" y="552011"/>
            <a:ext cx="219456" cy="219456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8213" y="736092"/>
            <a:ext cx="219456" cy="219456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914400"/>
            <a:ext cx="822960" cy="82296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64592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400" dirty="0"/>
          </a:p>
        </p:txBody>
      </p:sp>
      <p:sp>
        <p:nvSpPr>
          <p:cNvPr id="17" name="Text 2"/>
          <p:cNvSpPr/>
          <p:nvPr/>
        </p:nvSpPr>
        <p:spPr>
          <a:xfrm>
            <a:off x="6400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Guide</a:t>
            </a:r>
            <a:endParaRPr lang="en-US" sz="5600" dirty="0"/>
          </a:p>
        </p:txBody>
      </p:sp>
      <p:sp>
        <p:nvSpPr>
          <p:cNvPr id="18" name="Text 3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Edition</a:t>
            </a:r>
            <a:endParaRPr lang="en-US" sz="2800" dirty="0"/>
          </a:p>
        </p:txBody>
      </p:sp>
      <p:sp>
        <p:nvSpPr>
          <p:cNvPr id="19" name="Shape 4"/>
          <p:cNvSpPr/>
          <p:nvPr/>
        </p:nvSpPr>
        <p:spPr>
          <a:xfrm>
            <a:off x="640080" y="3749040"/>
            <a:ext cx="109728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5"/>
          <p:cNvSpPr/>
          <p:nvPr/>
        </p:nvSpPr>
        <p:spPr>
          <a:xfrm>
            <a:off x="64008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procurement-intelligence platform actually runs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lifecycle, the people, the rhythms, the trust model.</a:t>
            </a:r>
            <a:endParaRPr lang="en-US" sz="1400" dirty="0"/>
          </a:p>
        </p:txBody>
      </p:sp>
      <p:sp>
        <p:nvSpPr>
          <p:cNvPr id="21" name="Text 6"/>
          <p:cNvSpPr/>
          <p:nvPr/>
        </p:nvSpPr>
        <p:spPr>
          <a:xfrm>
            <a:off x="64008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ai-compass.eu  ·  Apr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Compass EU 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procurement-intelligence platform for European decision-makers — DPOs, CISOs, CROs, procurement leads — who need to evaluate AI tools against EU regulations (AI Act, GDPR, DORA, EBA/EIOPA, MDR/IVDR, national strategies). The product is anti-vendor-pitch: every claim is backed by a quoted excerpt from a primary source.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" y="3383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" y="3383280"/>
            <a:ext cx="196596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3566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93192" y="4160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assessed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23744" y="3383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23744" y="3383280"/>
            <a:ext cx="196596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3566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523744" y="4160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3383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3383280"/>
            <a:ext cx="196596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3566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54296" y="4160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languages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84848" y="3383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3383280"/>
            <a:ext cx="196596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35661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784848" y="4160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/ month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Anti-vendor-pitch · evidence-cited · multilingual · subscription model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ANYONE BELIEVES 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model — three promises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" y="18288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" y="1828800"/>
            <a:ext cx="73152" cy="2743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103120"/>
            <a:ext cx="822960" cy="82296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267712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1500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Sourced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1722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to a verbatim quote from the vendor's own trust centre, security page, or DPA.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3260" y="18288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3260" y="1828800"/>
            <a:ext cx="73152" cy="2743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267712"/>
            <a:ext cx="493776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51860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518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Dated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349758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shows the date the platform last verified it. Stale claims get flagged at 90 days.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03620" y="182880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03620" y="1828800"/>
            <a:ext cx="73152" cy="2743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40880" y="2103120"/>
            <a:ext cx="822960" cy="82296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267712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32220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3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3222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Challengeable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63779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has a 'report outdated' link. Buyers who know better can submit corrections.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page communicates these three promises as the platform's defensibility.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UNDER THE HOOD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Anti-hallucination guarantee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asks Claude to extract ~50 structured facts about a vendor. Every fact must include an evidenceQuote — a verbatim excerpt from the source page. The server then verifies that quote actually appears in the source. If it doesn't, the fact is dropped.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claim ever appears on a public page without a quote-verified evidence trail and a human approval.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783080"/>
            <a:ext cx="38404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783080"/>
            <a:ext cx="384048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0116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14 Apr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6636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663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residency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6636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— Frankfurt &amp; Dublin regions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166360" y="3749040"/>
            <a:ext cx="3383280" cy="731520"/>
          </a:xfrm>
          <a:prstGeom prst="rect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66360" y="3749040"/>
            <a:ext cx="45720" cy="7315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"Customer data may be stored in EU data centres in Frankfurt or Dublin at the customer's choice."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66360" y="4526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trust.vendor.com/data-residency  ·  Report outdated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THE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roles, layered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7432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8745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319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authority on positioning, pricing, hires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0" y="2606040"/>
            <a:ext cx="0" cy="32004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0" y="292608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0" y="2926080"/>
            <a:ext cx="73152" cy="8686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1546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Panel  ·  11–14 AI personas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60604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CISO · DPO · CRO · CFO · General Counsel · COO · CMO · VP Sales · …  Convened for cross-functional decisions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3794760"/>
            <a:ext cx="0" cy="32004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4400" y="4114800"/>
            <a:ext cx="7315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4400" y="4114800"/>
            <a:ext cx="73152" cy="8686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1596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4224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Fleet  ·  autonomous workers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91640" y="4590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· evidence extraction · translation · news triage · QA · panel orchestration · CEO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experts on call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1488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0604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0604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APIs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476756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773936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214884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2476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522476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38628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035808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21488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84348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784348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000500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297680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14884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046220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046220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audit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262372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59552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14884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8092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Ops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308092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524244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821424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2148840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69964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569964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7786116" y="1874520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083296" y="2039112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2148840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831836" y="2651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7831836" y="2907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214884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512064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3639312"/>
            <a:ext cx="329184" cy="32918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260604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260604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1476756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1773936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3664" y="3639312"/>
            <a:ext cx="329184" cy="329184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522476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</a:t>
            </a:r>
            <a:endParaRPr lang="en-US" sz="1200" dirty="0"/>
          </a:p>
        </p:txBody>
      </p:sp>
      <p:sp>
        <p:nvSpPr>
          <p:cNvPr id="52" name="Text 41"/>
          <p:cNvSpPr/>
          <p:nvPr/>
        </p:nvSpPr>
        <p:spPr>
          <a:xfrm>
            <a:off x="1522476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2738628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3035808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5536" y="3639312"/>
            <a:ext cx="329184" cy="329184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2784348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2784348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58" name="Shape 46"/>
          <p:cNvSpPr/>
          <p:nvPr/>
        </p:nvSpPr>
        <p:spPr>
          <a:xfrm>
            <a:off x="4000500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4297680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7408" y="3639312"/>
            <a:ext cx="329184" cy="329184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4046220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00" dirty="0"/>
          </a:p>
        </p:txBody>
      </p:sp>
      <p:sp>
        <p:nvSpPr>
          <p:cNvPr id="62" name="Text 49"/>
          <p:cNvSpPr/>
          <p:nvPr/>
        </p:nvSpPr>
        <p:spPr>
          <a:xfrm>
            <a:off x="4046220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63" name="Shape 50"/>
          <p:cNvSpPr/>
          <p:nvPr/>
        </p:nvSpPr>
        <p:spPr>
          <a:xfrm>
            <a:off x="5262372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64" name="Shape 51"/>
          <p:cNvSpPr/>
          <p:nvPr/>
        </p:nvSpPr>
        <p:spPr>
          <a:xfrm>
            <a:off x="5559552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9280" y="3639312"/>
            <a:ext cx="329184" cy="329184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5308092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200" dirty="0"/>
          </a:p>
        </p:txBody>
      </p:sp>
      <p:sp>
        <p:nvSpPr>
          <p:cNvPr id="67" name="Text 53"/>
          <p:cNvSpPr/>
          <p:nvPr/>
        </p:nvSpPr>
        <p:spPr>
          <a:xfrm>
            <a:off x="5308092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68" name="Shape 54"/>
          <p:cNvSpPr/>
          <p:nvPr/>
        </p:nvSpPr>
        <p:spPr>
          <a:xfrm>
            <a:off x="6524244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69" name="Shape 55"/>
          <p:cNvSpPr/>
          <p:nvPr/>
        </p:nvSpPr>
        <p:spPr>
          <a:xfrm>
            <a:off x="6821424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1152" y="3639312"/>
            <a:ext cx="329184" cy="329184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6569964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</a:t>
            </a:r>
            <a:endParaRPr lang="en-US" sz="1200" dirty="0"/>
          </a:p>
        </p:txBody>
      </p:sp>
      <p:sp>
        <p:nvSpPr>
          <p:cNvPr id="72" name="Text 57"/>
          <p:cNvSpPr/>
          <p:nvPr/>
        </p:nvSpPr>
        <p:spPr>
          <a:xfrm>
            <a:off x="6569964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73" name="Shape 58"/>
          <p:cNvSpPr/>
          <p:nvPr/>
        </p:nvSpPr>
        <p:spPr>
          <a:xfrm>
            <a:off x="7786116" y="3364992"/>
            <a:ext cx="11430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74" name="Shape 59"/>
          <p:cNvSpPr/>
          <p:nvPr/>
        </p:nvSpPr>
        <p:spPr>
          <a:xfrm>
            <a:off x="8083296" y="3529584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3024" y="3639312"/>
            <a:ext cx="329184" cy="329184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7831836" y="4142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00" dirty="0"/>
          </a:p>
        </p:txBody>
      </p:sp>
      <p:sp>
        <p:nvSpPr>
          <p:cNvPr id="77" name="Text 61"/>
          <p:cNvSpPr/>
          <p:nvPr/>
        </p:nvSpPr>
        <p:spPr>
          <a:xfrm>
            <a:off x="7831836" y="43982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00" dirty="0"/>
          </a:p>
        </p:txBody>
      </p:sp>
      <p:sp>
        <p:nvSpPr>
          <p:cNvPr id="78" name="Text 62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Convened by /brainstorm or by sending "brainstorm: &lt;topic&gt;" to Telegram. They surface consensus, dissents, and a recommended call. They advise; they do not decide.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vendor data to a verified public claim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3816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304288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4632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added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database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32" y="2583180"/>
            <a:ext cx="128016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011680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1168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636776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901952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3042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82496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682496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trust-centre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found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196" y="2583180"/>
            <a:ext cx="128016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209544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9544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2834640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099816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230428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880360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2880360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diff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060" y="2583180"/>
            <a:ext cx="128016" cy="1828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407408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40740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032504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230428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078224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4078224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pulls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facts</a:t>
            </a:r>
            <a:endParaRPr lang="en-US" sz="9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6924" y="2583180"/>
            <a:ext cx="128016" cy="18288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605272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6052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5230368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5495544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272" y="2304288"/>
            <a:ext cx="329184" cy="32918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276088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5276088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9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4788" y="2583180"/>
            <a:ext cx="128016" cy="18288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803136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6803136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50" name="Shape 38"/>
          <p:cNvSpPr/>
          <p:nvPr/>
        </p:nvSpPr>
        <p:spPr>
          <a:xfrm>
            <a:off x="6428232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6693408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3136" y="2304288"/>
            <a:ext cx="329184" cy="32918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6473952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54" name="Text 41"/>
          <p:cNvSpPr/>
          <p:nvPr/>
        </p:nvSpPr>
        <p:spPr>
          <a:xfrm>
            <a:off x="6473952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</a:t>
            </a:r>
            <a:endParaRPr lang="en-US" sz="9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2652" y="2583180"/>
            <a:ext cx="128016" cy="182880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8001000" y="1755648"/>
            <a:ext cx="329184" cy="32918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800100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8" name="Shape 44"/>
          <p:cNvSpPr/>
          <p:nvPr/>
        </p:nvSpPr>
        <p:spPr>
          <a:xfrm>
            <a:off x="7626096" y="1920240"/>
            <a:ext cx="10789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59" name="Shape 45"/>
          <p:cNvSpPr/>
          <p:nvPr/>
        </p:nvSpPr>
        <p:spPr>
          <a:xfrm>
            <a:off x="7891272" y="2194560"/>
            <a:ext cx="548640" cy="548640"/>
          </a:xfrm>
          <a:prstGeom prst="ellipse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0" y="2304288"/>
            <a:ext cx="329184" cy="329184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7671816" y="2788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</a:t>
            </a:r>
            <a:endParaRPr lang="en-US" sz="1300" dirty="0"/>
          </a:p>
        </p:txBody>
      </p:sp>
      <p:sp>
        <p:nvSpPr>
          <p:cNvPr id="62" name="Text 47"/>
          <p:cNvSpPr/>
          <p:nvPr/>
        </p:nvSpPr>
        <p:spPr>
          <a:xfrm>
            <a:off x="7671816" y="303580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EFEAD8"/>
          </a:solidFill>
          <a:ln w="12700">
            <a:solidFill>
              <a:srgbClr val="EFEAD8"/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365760" y="4069080"/>
            <a:ext cx="54864" cy="6400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5" name="Text 50"/>
          <p:cNvSpPr/>
          <p:nvPr/>
        </p:nvSpPr>
        <p:spPr>
          <a:xfrm>
            <a:off x="548640" y="411480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guards on every stage: SHA-256 hash-skip, extraction cap (--max 150), confidence-ranked review queue. Steady-state extraction cost: a few dollars per month.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locales, one hard build gate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locales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2377440"/>
            <a:ext cx="457200" cy="45720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880360"/>
            <a:ext cx="457200" cy="45720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" y="3886200"/>
            <a:ext cx="457200" cy="45720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4389120"/>
            <a:ext cx="457200" cy="457200"/>
          </a:xfrm>
          <a:prstGeom prst="ellipse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06240" y="1783080"/>
            <a:ext cx="45720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06240" y="1783080"/>
            <a:ext cx="73152" cy="29260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3484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3484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i18n:check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434840" y="2697480"/>
            <a:ext cx="4160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PR and as a prebuild hook. Blocks merge if any of these are true: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exists in English but is missing or empty in another locale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like {count} or {date} don't match across translations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scanned file contains hardcoded English text in JSX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page uses static metadata instead of generateMetadata()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is missing for any locale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backfills missing translations. The glossary protects brand names and acronyms (GDPR, AI Act, Claude, OpenAI…) from translation.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 THE PUBLIC SITE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shape of the experience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160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54864" cy="9601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947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2860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Database · Regulations · Industries · Newsfeed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160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783080"/>
            <a:ext cx="54864" cy="9601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1947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40680" y="22860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/systems/[slug] · /regulations/[slug] · /industries/[slug] · /reports/[slug]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2880360"/>
            <a:ext cx="4160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880360"/>
            <a:ext cx="54864" cy="9601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044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tools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97280" y="3383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· Checklist · RFP Engine · Vendor Prep · Business Case · Podium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2880360"/>
            <a:ext cx="4160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2880360"/>
            <a:ext cx="54864" cy="9601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044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commerce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40680" y="3383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Subscribe · Account · Pro Dashboard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977640"/>
            <a:ext cx="4160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977640"/>
            <a:ext cx="54864" cy="9601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5196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4142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policies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097280" y="4480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· Methodology · Sourcing · Ratings · Privacy · Security · Terms · Contact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663440" y="3977640"/>
            <a:ext cx="4160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63440" y="3977640"/>
            <a:ext cx="54864" cy="9601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251960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40680" y="4142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(TOTP)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5440680" y="4480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· Frameworks · Sources · Evidence · Subscribers · News monitor · Expert panel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URL is locale-prefixed: /en/, /fr/, /de/, /es/, /it/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RHYTHM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Daily, weekly, monthly, quarterly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" y="178308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" y="1783080"/>
            <a:ext cx="201168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94767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" y="1947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" y="25603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triage (24h)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review queue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poll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P0 from TODO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78024" y="178308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78024" y="1783080"/>
            <a:ext cx="201168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9476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26664" y="1947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60904" y="25603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05:00 evidence fetch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review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 content QA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backfill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54296" y="178308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54296" y="1783080"/>
            <a:ext cx="201168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4767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1947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37176" y="25603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reconciliation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freshness sweep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 batch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digest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830568" y="178308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30568" y="1783080"/>
            <a:ext cx="201168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94767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9208" y="1947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13448" y="25603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review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review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brainstorm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reset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Vercel crons keep the platform alive without human input: news ingest every 6 hours, evidence fetch every Monday at 05:00 UTC.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WHAT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escalation ladder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783080"/>
            <a:ext cx="41148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 ·  Rebrand · pricing · hires · kill a feature · take investment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00200" y="2788920"/>
            <a:ext cx="5943600" cy="86868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  ·  Scoring weight changes · vendor flagged for legal risk · GTM moves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794760"/>
            <a:ext cx="7772400" cy="8686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·  Routine content · evidence triage · translations · news triage · QA passes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572000"/>
            <a:ext cx="54864" cy="5029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1772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thumb — the agent does anything reversible without asking, and asks before anything irreversible.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subscription tiers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" y="17830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" y="1783080"/>
            <a:ext cx="260604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0866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5820" y="3474720"/>
            <a:ext cx="1874520" cy="0"/>
          </a:xfrm>
          <a:prstGeom prst="line">
            <a:avLst/>
          </a:prstGeom>
          <a:noFill/>
          <a:ln w="12700">
            <a:solidFill>
              <a:srgbClr val="E2DD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vendors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comparison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Newsfeed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 for Pro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8980" y="1691640"/>
            <a:ext cx="2606040" cy="3291840"/>
          </a:xfrm>
          <a:prstGeom prst="rect">
            <a:avLst/>
          </a:prstGeom>
          <a:solidFill>
            <a:srgbClr val="0D1B3E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8980" y="1691640"/>
            <a:ext cx="260604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527048"/>
            <a:ext cx="1280160" cy="2926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5270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9758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7580" y="2331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34740" y="3383280"/>
            <a:ext cx="1874520" cy="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 catalog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assessments + scores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+ exports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alerts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7900" y="178308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7900" y="1783080"/>
            <a:ext cx="260604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650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8650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€199+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28650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custom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23660" y="3474720"/>
            <a:ext cx="1874520" cy="0"/>
          </a:xfrm>
          <a:prstGeom prst="line">
            <a:avLst/>
          </a:prstGeom>
          <a:noFill/>
          <a:ln w="12700">
            <a:solidFill>
              <a:srgbClr val="E2DD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222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multi-seat (10)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included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9377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LemonSqueezy is the merchant of record (handles EU VAT). Stripe is wired in parallel as a backup. Magic-link auth, no passwords.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 to operate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657600" cy="2926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36576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$5 / month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9436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infrastructure outside of revenue-share fees, thanks to free tiers and aggressive cost guards.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line items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0" y="214884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2148840"/>
            <a:ext cx="54864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2148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extraction, chat, tools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2148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$/mo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06240" y="265176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06240" y="2651760"/>
            <a:ext cx="54864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backfill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06640" y="2651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(500K chars)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06240" y="315468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06240" y="3154680"/>
            <a:ext cx="54864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+ digest emails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0664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(3K/mo)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06240" y="365760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06240" y="3657600"/>
            <a:ext cx="54864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43600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Postgres + crons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06640" y="3657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206240" y="416052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4160520"/>
            <a:ext cx="54864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8912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LemonSqueezy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4360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MoR, EU VAT handling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406640" y="4160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of revenue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 revenue from vendors — explicitly off the menu. The platform must remain unbought to retain trust.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APRIL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currently unfinished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matters. These are real gaps the team is openly tracking: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  <a:effectLst>
            <a:outerShdw sx="100000" sy="100000" kx="0" ky="0" algn="bl" rotWithShape="0" blurRad="177800" dist="38100" dir="5400000">
              <a:srgbClr val="1A22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73152" cy="2331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backbone — many vendors still have draft claims pending review (the launch gate)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page rewrite to lean fully into the three trust promises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Generator broken and hidden; slated for repair as a consulting product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export is admin-manual; needs a self-service endpoint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debt — ~20 hardcoded English strings on pricing/methodology/reports/regulations/industries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customer-development calls (DPO / CISO / procurement) blocking paid acquisition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final brand pending CEO decision (currently ai-compass.eu)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QA bots (broken-link sweeps, perf, mobile, UX-improvement) designed but not yet built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548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trackers: TODO.md (backlog) · qa/defects.md (bugs) · qa/content-suggestions.md (content review).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answers, by file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9019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conventions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632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 ·  DEVELOPER.md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78308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019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gate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066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233172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" y="233172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505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deep-dive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0632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docs/TECHNICAL-DOCUMENTATION.md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233172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233172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505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&amp; launch gates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066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TODO.md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288036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0040" y="288036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99923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&amp; QA log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0632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qa/defects.md  ·  qa/content-suggestions.md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663440" y="288036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663440" y="288036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99923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206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runbook (this guide's twin)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4066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docs/OPERATIONS-AGENT.md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20040" y="342900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20040" y="342900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547872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7724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formulas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306324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src/lib/scoring.ts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663440" y="342900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663440" y="342900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547872"/>
            <a:ext cx="219456" cy="21945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2064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feature matrix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740664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src/lib/tier-access.ts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320040" y="397764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20040" y="397764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" y="4096512"/>
            <a:ext cx="219456" cy="21945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772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personas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306324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src/lib/expert-panel.ts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4663440" y="397764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4663440" y="3977640"/>
            <a:ext cx="54864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096512"/>
            <a:ext cx="219456" cy="219456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1206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</a:t>
            </a:r>
            <a:endParaRPr lang="en-US" sz="1100" dirty="0"/>
          </a:p>
        </p:txBody>
      </p:sp>
      <p:sp>
        <p:nvSpPr>
          <p:cNvPr id="57" name="Text 45"/>
          <p:cNvSpPr/>
          <p:nvPr/>
        </p:nvSpPr>
        <p:spPr>
          <a:xfrm>
            <a:off x="740664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vercel.json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3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source disagrees with this guide, the source wins. Update the guide.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COMPASS EU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non-negotiables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54864" cy="5120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0195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828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Evidence before publication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97680" y="182880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ships without a server-verified quote from a primary source.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386584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386584"/>
            <a:ext cx="54864" cy="5120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0545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4323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Translation parity is binding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97680" y="243230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active locales ship together. The build gate is non-negotiable.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990088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2990088"/>
            <a:ext cx="54864" cy="5120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089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0358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Cost guards are not optional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297680" y="303580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Hash-skip and the --max 150 cap protect the Anthropic budget. Override only with explicit sign-off.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593592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5760" y="3593592"/>
            <a:ext cx="54864" cy="5120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712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0120" y="36393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Never block on the CEO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297680" y="363931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via Telegram with options, log the question, move to the next task. Resume when the answer arrives.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5760" y="4197096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DDC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65760" y="4197096"/>
            <a:ext cx="54864" cy="5120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31596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" y="42428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Postgres is the source of truth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297680" y="424281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flat-file caches, no JSON sidecars. Durable state lives in the database.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operating principles every agent reads on session start — see docs/OPERATIONS-AGENT.md §0.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ONE-PARAGRAPH VERSION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Compass EU is a procurement-intelligence platform that rates AI tools against EU regulations using only verifiable, quote-cited evidence from each vendor's own public materials.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operated by a fleet of AI agents working under a CEO, with an expert panel of domain personas advising on cross-functional decisions. Content flows through a strict pipeline — discover → fetch → extract → review → publish → re-verify every 90 days — with translation parity across five EU languages enforced as a hard build gate.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comes from a Free / Pro €19 / Enterprise tiered subscription, with LemonSqueezy as merchant of record. The platform's defensibility is the trust model: every claim is sourced, every claim is dated, every claim is challengeable.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9728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Compass EU — Operations Guide</dc:title>
  <dc:subject>Operations Guide — Human Edition</dc:subject>
  <dc:creator>AI Compass EU</dc:creator>
  <cp:lastModifiedBy>AI Compass EU</cp:lastModifiedBy>
  <cp:revision>1</cp:revision>
  <dcterms:created xsi:type="dcterms:W3CDTF">2026-04-26T05:28:23Z</dcterms:created>
  <dcterms:modified xsi:type="dcterms:W3CDTF">2026-04-26T05:28:23Z</dcterms:modified>
</cp:coreProperties>
</file>